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8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13.png"/><Relationship Id="rId12" Type="http://schemas.openxmlformats.org/officeDocument/2006/relationships/image" Target="../media/image6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3" Type="http://schemas.openxmlformats.org/officeDocument/2006/relationships/image" Target="../media/image108.png"/><Relationship Id="rId21" Type="http://schemas.openxmlformats.org/officeDocument/2006/relationships/image" Target="../media/image124.png"/><Relationship Id="rId7" Type="http://schemas.openxmlformats.org/officeDocument/2006/relationships/image" Target="../media/image111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07.png"/><Relationship Id="rId16" Type="http://schemas.openxmlformats.org/officeDocument/2006/relationships/image" Target="../media/image119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4.png"/><Relationship Id="rId5" Type="http://schemas.openxmlformats.org/officeDocument/2006/relationships/image" Target="../media/image109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19" Type="http://schemas.openxmlformats.org/officeDocument/2006/relationships/image" Target="../media/image122.png"/><Relationship Id="rId4" Type="http://schemas.openxmlformats.org/officeDocument/2006/relationships/image" Target="../media/image82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6.png"/><Relationship Id="rId7" Type="http://schemas.openxmlformats.org/officeDocument/2006/relationships/image" Target="../media/image129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18" Type="http://schemas.openxmlformats.org/officeDocument/2006/relationships/image" Target="../media/image120.pn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" Type="http://schemas.openxmlformats.org/officeDocument/2006/relationships/image" Target="../media/image143.png"/><Relationship Id="rId16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5" Type="http://schemas.openxmlformats.org/officeDocument/2006/relationships/image" Target="../media/image156.png"/><Relationship Id="rId10" Type="http://schemas.openxmlformats.org/officeDocument/2006/relationships/image" Target="../media/image151.png"/><Relationship Id="rId19" Type="http://schemas.openxmlformats.org/officeDocument/2006/relationships/image" Target="../media/image159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12" Type="http://schemas.openxmlformats.org/officeDocument/2006/relationships/image" Target="../media/image16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11" Type="http://schemas.openxmlformats.org/officeDocument/2006/relationships/image" Target="../media/image168.png"/><Relationship Id="rId5" Type="http://schemas.openxmlformats.org/officeDocument/2006/relationships/image" Target="../media/image163.png"/><Relationship Id="rId10" Type="http://schemas.openxmlformats.org/officeDocument/2006/relationships/image" Target="../media/image167.png"/><Relationship Id="rId4" Type="http://schemas.openxmlformats.org/officeDocument/2006/relationships/image" Target="../media/image162.png"/><Relationship Id="rId9" Type="http://schemas.openxmlformats.org/officeDocument/2006/relationships/image" Target="../media/image1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>
                  <a:alpha val="85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312E81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668" y="493294"/>
            <a:ext cx="457188" cy="3850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7253" y="502318"/>
            <a:ext cx="457188" cy="36696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838" y="511342"/>
            <a:ext cx="457188" cy="348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81150" y="1219200"/>
            <a:ext cx="8229394" cy="21431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875"/>
              </a:lnSpc>
              <a:spcBef>
                <a:spcPts val="0"/>
              </a:spcBef>
              <a:spcAft>
                <a:spcPts val="1560"/>
              </a:spcAft>
            </a:pPr>
            <a:r>
              <a:rPr sz="3588" b="1" dirty="0">
                <a:solidFill>
                  <a:srgbClr val="FFFFFF"/>
                </a:solidFill>
                <a:latin typeface="Poppins"/>
              </a:rPr>
              <a:t> Medical Supply Chain Viability</a:t>
            </a:r>
            <a:r>
              <a:rPr sz="1104" dirty="0"/>
              <a:t>
</a:t>
            </a:r>
            <a:r>
              <a:rPr sz="3588" b="1" dirty="0">
                <a:solidFill>
                  <a:srgbClr val="FFFFFF"/>
                </a:solidFill>
                <a:latin typeface="Poppins"/>
              </a:rPr>
              <a:t>During Pandemics 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93" y="3600450"/>
            <a:ext cx="3657508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62240" y="3943350"/>
            <a:ext cx="5476738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67E8F9"/>
                </a:solidFill>
                <a:latin typeface="Montserrat"/>
              </a:rPr>
              <a:t> Integrating Machine Learning &amp; Unified Robust</a:t>
            </a:r>
            <a:r>
              <a:rPr sz="1104"/>
              <a:t>
</a:t>
            </a:r>
            <a:r>
              <a:rPr sz="1435" b="0">
                <a:solidFill>
                  <a:srgbClr val="67E8F9"/>
                </a:solidFill>
                <a:latin typeface="Montserrat"/>
              </a:rPr>
              <a:t>Stochastic Programming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3766" y="5067299"/>
            <a:ext cx="104772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Authors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766" y="5295899"/>
            <a:ext cx="10477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Yılmaz et 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8679" y="5067299"/>
            <a:ext cx="9524" cy="609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5392" y="5067299"/>
            <a:ext cx="154301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Journal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5392" y="5295899"/>
            <a:ext cx="154301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Omega 133 (2025)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38639" y="6177802"/>
            <a:ext cx="190495" cy="1792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43431" y="6153149"/>
            <a:ext cx="100962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January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1019" y="6362700"/>
            <a:ext cx="153348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Montserrat"/>
              </a:rPr>
              <a:t>Presented by: Group 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F172A">
                  <a:alpha val="4000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432" y="642116"/>
            <a:ext cx="342891" cy="2778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05432" y="1143000"/>
            <a:ext cx="487667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FFFFFF"/>
                </a:solidFill>
                <a:latin typeface="Poppins"/>
              </a:rPr>
              <a:t>The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2" y="1676400"/>
            <a:ext cx="914377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432" y="2171700"/>
            <a:ext cx="48766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1">
                <a:solidFill>
                  <a:srgbClr val="67E8F9"/>
                </a:solidFill>
                <a:latin typeface="Montserrat"/>
              </a:rPr>
              <a:t>COVID-19 Impact on MSC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5432" y="2933699"/>
            <a:ext cx="533386" cy="600075"/>
          </a:xfrm>
          <a:prstGeom prst="roundRect">
            <a:avLst>
              <a:gd name="adj" fmla="val 28571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9729" y="3118338"/>
            <a:ext cx="304792" cy="1641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91215" y="2933699"/>
            <a:ext cx="274313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Demand Surge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1215" y="3238500"/>
            <a:ext cx="274313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Radical increase in medical supplies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5432" y="3829050"/>
            <a:ext cx="533386" cy="600075"/>
          </a:xfrm>
          <a:prstGeom prst="roundRect">
            <a:avLst>
              <a:gd name="adj" fmla="val 28571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9729" y="3978519"/>
            <a:ext cx="304792" cy="2344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91215" y="3829050"/>
            <a:ext cx="22668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Patient Crisis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1215" y="4133849"/>
            <a:ext cx="226689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Sharp rise in patient numbers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432" y="4743450"/>
            <a:ext cx="533386" cy="600075"/>
          </a:xfrm>
          <a:prstGeom prst="roundRect">
            <a:avLst>
              <a:gd name="adj" fmla="val 28571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9729" y="4916365"/>
            <a:ext cx="304792" cy="1875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91215" y="4743450"/>
            <a:ext cx="30002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Capacity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1215" y="5048250"/>
            <a:ext cx="30002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Fluctuations in medical center capacity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5432" y="5638799"/>
            <a:ext cx="533386" cy="600075"/>
          </a:xfrm>
          <a:prstGeom prst="roundRect">
            <a:avLst>
              <a:gd name="adj" fmla="val 28571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9729" y="5797061"/>
            <a:ext cx="304792" cy="2168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91215" y="5638799"/>
            <a:ext cx="265740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Distribution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1215" y="5943600"/>
            <a:ext cx="265740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Inefficiencies in supply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39315"/>
            <a:ext cx="380990" cy="3214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3514637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971675"/>
            <a:ext cx="5333866" cy="1704975"/>
          </a:xfrm>
          <a:prstGeom prst="roundRect">
            <a:avLst>
              <a:gd name="adj" fmla="val 17877"/>
            </a:avLst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60000"/>
                </a:srgbClr>
              </a:gs>
            </a:gsLst>
            <a:lin ang="8100000" scaled="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01" y="22860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1545" y="2419349"/>
            <a:ext cx="11429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Montserrat"/>
              </a:rPr>
              <a:t>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080" y="2306292"/>
            <a:ext cx="266693" cy="226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04972" y="2286000"/>
            <a:ext cx="210497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Optimization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080" y="2667000"/>
            <a:ext cx="386705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Which approach achieves MSC viability?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2080" y="3105149"/>
            <a:ext cx="914377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62080" y="3105149"/>
            <a:ext cx="91437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Montserrat"/>
              </a:rPr>
              <a:t>Stochastic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656" y="3105149"/>
            <a:ext cx="704832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52656" y="3105149"/>
            <a:ext cx="70483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Montserrat"/>
              </a:rPr>
              <a:t>Robust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3211" y="3105149"/>
            <a:ext cx="933426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3211" y="3105149"/>
            <a:ext cx="93342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Montserrat"/>
              </a:rPr>
              <a:t>Combined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243" y="1971675"/>
            <a:ext cx="5333866" cy="1704975"/>
          </a:xfrm>
          <a:prstGeom prst="roundRect">
            <a:avLst>
              <a:gd name="adj" fmla="val 17877"/>
            </a:avLst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60000"/>
                </a:srgbClr>
              </a:gs>
            </a:gsLst>
            <a:lin ang="8100000" scaled="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62560" y="22860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81630" y="2419349"/>
            <a:ext cx="1714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Montserrat"/>
              </a:rPr>
              <a:t>2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0739" y="2294696"/>
            <a:ext cx="266693" cy="2493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43631" y="2286000"/>
            <a:ext cx="131441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Risk Aversion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0739" y="2667000"/>
            <a:ext cx="386705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How do risk approaches affect performance?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0739" y="3105149"/>
            <a:ext cx="1114397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0739" y="3105149"/>
            <a:ext cx="111439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Montserrat"/>
              </a:rPr>
              <a:t>Sustainability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1335" y="3105149"/>
            <a:ext cx="904852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1335" y="3105149"/>
            <a:ext cx="90485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Montserrat"/>
              </a:rPr>
              <a:t>Resilience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" y="3981449"/>
            <a:ext cx="5333866" cy="1704975"/>
          </a:xfrm>
          <a:prstGeom prst="roundRect">
            <a:avLst>
              <a:gd name="adj" fmla="val 17877"/>
            </a:avLst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60000"/>
                </a:srgbClr>
              </a:gs>
            </a:gsLst>
            <a:lin ang="8100000" scaled="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23901" y="43053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2971" y="4438649"/>
            <a:ext cx="1714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Montserrat"/>
              </a:rPr>
              <a:t>3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2080" y="4313996"/>
            <a:ext cx="266693" cy="2493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104972" y="4305300"/>
            <a:ext cx="20382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Government Policies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2080" y="4686300"/>
            <a:ext cx="386705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Which implementations are most effective?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62080" y="5114925"/>
            <a:ext cx="962000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62080" y="5114925"/>
            <a:ext cx="9620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Montserrat"/>
              </a:rPr>
              <a:t>Legislation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00279" y="5114925"/>
            <a:ext cx="962000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00279" y="5114925"/>
            <a:ext cx="9620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Montserrat"/>
              </a:rPr>
              <a:t>Healthcare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8243" y="3981449"/>
            <a:ext cx="5333866" cy="1704975"/>
          </a:xfrm>
          <a:prstGeom prst="roundRect">
            <a:avLst>
              <a:gd name="adj" fmla="val 17877"/>
            </a:avLst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60000"/>
                </a:srgbClr>
              </a:gs>
            </a:gsLst>
            <a:lin ang="8100000" scaled="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62560" y="43053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72105" y="4438649"/>
            <a:ext cx="2000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Montserrat"/>
              </a:rPr>
              <a:t>4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0739" y="4319794"/>
            <a:ext cx="266693" cy="23771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743631" y="4305300"/>
            <a:ext cx="21335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Uncertainty 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0739" y="4686300"/>
            <a:ext cx="386705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How does uncertainty affect overall cost?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0739" y="5114925"/>
            <a:ext cx="704832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0739" y="5114925"/>
            <a:ext cx="70483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Montserrat"/>
              </a:rPr>
              <a:t>Known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1770" y="5114925"/>
            <a:ext cx="885802" cy="266699"/>
          </a:xfrm>
          <a:prstGeom prst="roundRect">
            <a:avLst>
              <a:gd name="adj" fmla="val 71421428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81770" y="5114925"/>
            <a:ext cx="88580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7E8F9"/>
                </a:solidFill>
                <a:latin typeface="Montserrat"/>
              </a:rPr>
              <a:t>Unknown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57348" y="2038964"/>
            <a:ext cx="761980" cy="608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188" y="2952750"/>
            <a:ext cx="3962300" cy="914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1040"/>
              </a:spcAft>
            </a:pPr>
            <a:r>
              <a:rPr sz="2870" b="1">
                <a:solidFill>
                  <a:srgbClr val="FFFFFF"/>
                </a:solidFill>
                <a:latin typeface="Poppins"/>
              </a:rPr>
              <a:t>Key MSC</a:t>
            </a:r>
            <a:r>
              <a:rPr sz="1104"/>
              <a:t>
</a:t>
            </a:r>
            <a:r>
              <a:rPr sz="2870" b="1">
                <a:solidFill>
                  <a:srgbClr val="FFFFFF"/>
                </a:solidFill>
                <a:latin typeface="Poppins"/>
              </a:rPr>
              <a:t>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754" y="4019549"/>
            <a:ext cx="1219169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188" y="4286250"/>
            <a:ext cx="3962300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Critical obstacles in medical supply chain management during pandemics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6" y="1123949"/>
            <a:ext cx="3086022" cy="2190749"/>
          </a:xfrm>
          <a:prstGeom prst="roundRect">
            <a:avLst>
              <a:gd name="adj" fmla="val 10434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95887" y="13620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858" y="1635598"/>
            <a:ext cx="400039" cy="214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8203" y="2276474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Demand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1985" y="2619374"/>
            <a:ext cx="2609784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Unpredictable surge in medical supplies needs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8483" y="1123949"/>
            <a:ext cx="3086022" cy="2190749"/>
          </a:xfrm>
          <a:prstGeom prst="roundRect">
            <a:avLst>
              <a:gd name="adj" fmla="val 10434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504" y="13620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91475" y="1572904"/>
            <a:ext cx="400039" cy="3403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81870" y="2276474"/>
            <a:ext cx="201924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Capacity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6602" y="2619374"/>
            <a:ext cx="2609784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Limited production and storage capabilities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3866" y="3543300"/>
            <a:ext cx="3086022" cy="2190749"/>
          </a:xfrm>
          <a:prstGeom prst="roundRect">
            <a:avLst>
              <a:gd name="adj" fmla="val 10434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95887" y="3781424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6858" y="4022108"/>
            <a:ext cx="400039" cy="2806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62500" y="4695824"/>
            <a:ext cx="182875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Distribution Issues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1985" y="5038724"/>
            <a:ext cx="2609784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Inefficient logistics and delivery networks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8483" y="3543300"/>
            <a:ext cx="3086022" cy="2190749"/>
          </a:xfrm>
          <a:prstGeom prst="roundRect">
            <a:avLst>
              <a:gd name="adj" fmla="val 10434"/>
            </a:avLst>
          </a:prstGeom>
          <a:gradFill rotWithShape="1">
            <a:gsLst>
              <a:gs pos="0">
                <a:srgbClr val="1E293B">
                  <a:alpha val="5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810504" y="3781424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91475" y="3977327"/>
            <a:ext cx="400039" cy="37019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58088" y="4695824"/>
            <a:ext cx="147633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Risk Mitigation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6602" y="5038724"/>
            <a:ext cx="2609784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Inadequate strategies for disruption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83964"/>
            <a:ext cx="380990" cy="2321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3819429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Viability vs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695449"/>
            <a:ext cx="5257668" cy="4267199"/>
          </a:xfrm>
          <a:prstGeom prst="roundRect">
            <a:avLst>
              <a:gd name="adj" fmla="val 10714"/>
            </a:avLst>
          </a:prstGeom>
          <a:gradFill rotWithShape="1">
            <a:gsLst>
              <a:gs pos="0">
                <a:srgbClr val="164E63">
                  <a:alpha val="2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9624" y="2095499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6B6D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020" y="2302042"/>
            <a:ext cx="457188" cy="3489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4001" y="2286000"/>
            <a:ext cx="147633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2D3EE"/>
                </a:solidFill>
                <a:latin typeface="Poppins"/>
              </a:rPr>
              <a:t>Viability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9624" y="32004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872" y="3362324"/>
            <a:ext cx="266693" cy="1333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19209" y="3162299"/>
            <a:ext cx="351463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Long-term Survival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09" y="3543300"/>
            <a:ext cx="351463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Sustain and adapt over extended periods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24" y="40766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4872" y="4200939"/>
            <a:ext cx="266693" cy="2087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19209" y="4038599"/>
            <a:ext cx="331461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Structural Reconfiguration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9209" y="4419600"/>
            <a:ext cx="331461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Strategic restructuring and replanning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9624" y="49529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4872" y="5068542"/>
            <a:ext cx="266693" cy="2261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19209" y="4914900"/>
            <a:ext cx="368608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Unknown-Unknown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9209" y="5295899"/>
            <a:ext cx="368608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Address unprecedented black swan 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1" y="1695449"/>
            <a:ext cx="5257668" cy="4267199"/>
          </a:xfrm>
          <a:prstGeom prst="roundRect">
            <a:avLst>
              <a:gd name="adj" fmla="val 10714"/>
            </a:avLst>
          </a:prstGeom>
          <a:gradFill rotWithShape="1">
            <a:gsLst>
              <a:gs pos="0">
                <a:srgbClr val="312E81">
                  <a:alpha val="2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24481" y="2095499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6366F1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76878" y="2302042"/>
            <a:ext cx="457188" cy="3489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38859" y="2286000"/>
            <a:ext cx="1790655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818CF8"/>
                </a:solidFill>
                <a:latin typeface="Poppins"/>
              </a:rPr>
              <a:t>Resilience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4481" y="32004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19729" y="3334785"/>
            <a:ext cx="266693" cy="1884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34066" y="3162299"/>
            <a:ext cx="342891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Short-term Recovery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066" y="3543300"/>
            <a:ext cx="342891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Withstand and recover from disruptions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4481" y="40766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19729" y="4180646"/>
            <a:ext cx="266693" cy="2493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34066" y="4038599"/>
            <a:ext cx="343843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Adapt to Changes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4066" y="4419600"/>
            <a:ext cx="34384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Absorb shocks and bounce back quickly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4481" y="49529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19729" y="5109127"/>
            <a:ext cx="266693" cy="14494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34066" y="4914900"/>
            <a:ext cx="360988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Known-Unknown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4066" y="5295899"/>
            <a:ext cx="36098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Manage predictable uncertainty scenarios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39315"/>
            <a:ext cx="380990" cy="3214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322889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Uncertainty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714500"/>
            <a:ext cx="5295767" cy="4229100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9624" y="2114550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19" y="2411123"/>
            <a:ext cx="533386" cy="3212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76398" y="2381250"/>
            <a:ext cx="307649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60A5FA"/>
                </a:solidFill>
                <a:latin typeface="Poppins"/>
              </a:rPr>
              <a:t>Known-Unknown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9624" y="33718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921" y="3521319"/>
            <a:ext cx="304792" cy="2344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5407" y="3333749"/>
            <a:ext cx="193352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Historical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5407" y="3676649"/>
            <a:ext cx="193352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Past patterns 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24" y="4171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3921" y="4321419"/>
            <a:ext cx="304792" cy="2344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5407" y="4133849"/>
            <a:ext cx="286695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Probability Distributions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5407" y="4476750"/>
            <a:ext cx="286695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Statistical modeling possible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9624" y="49720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3921" y="5121519"/>
            <a:ext cx="304792" cy="2344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5407" y="4933950"/>
            <a:ext cx="241928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Predictable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5407" y="5276850"/>
            <a:ext cx="241928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Seasonal fluctuations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342" y="1714500"/>
            <a:ext cx="5295767" cy="4229100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7F1D1D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86382" y="2114550"/>
            <a:ext cx="895327" cy="914400"/>
          </a:xfrm>
          <a:prstGeom prst="roundRect">
            <a:avLst>
              <a:gd name="adj" fmla="val 21274468"/>
            </a:avLst>
          </a:prstGeom>
          <a:solidFill>
            <a:srgbClr val="EF444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67353" y="2368694"/>
            <a:ext cx="533386" cy="40611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34106" y="2190749"/>
            <a:ext cx="3447963" cy="761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87171"/>
                </a:solidFill>
                <a:latin typeface="Poppins"/>
              </a:rPr>
              <a:t>Unknown-Unknown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6382" y="33718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00679" y="3509596"/>
            <a:ext cx="304792" cy="2579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72165" y="3333749"/>
            <a:ext cx="239071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Novel Pathogens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2165" y="3676649"/>
            <a:ext cx="23907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Previously unknown threats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86382" y="4171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00679" y="4309696"/>
            <a:ext cx="304792" cy="2579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72165" y="4133849"/>
            <a:ext cx="279075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No Historical Precedent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2165" y="4476750"/>
            <a:ext cx="279075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Zero prior experience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86382" y="49720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00679" y="5115657"/>
            <a:ext cx="304792" cy="246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72165" y="4933950"/>
            <a:ext cx="237166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Black Swan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2165" y="5276850"/>
            <a:ext cx="23716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Unprecedented disruptions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54198"/>
            <a:ext cx="380990" cy="29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407659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Methodology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828800"/>
            <a:ext cx="5333866" cy="3238500"/>
          </a:xfrm>
          <a:prstGeom prst="roundRect">
            <a:avLst>
              <a:gd name="adj" fmla="val 14117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9624" y="22288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6B6D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57268" y="2362199"/>
            <a:ext cx="10477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1605" y="2362199"/>
            <a:ext cx="262883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Poppins"/>
              </a:rPr>
              <a:t>Machine Learning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24" y="3105478"/>
            <a:ext cx="342891" cy="2660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6813" y="3086100"/>
            <a:ext cx="251453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Contagion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9624" y="37337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0119" y="3638550"/>
            <a:ext cx="30383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Predict disease contagion levels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24" y="41148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0119" y="4019549"/>
            <a:ext cx="297172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Estimate demand adjustments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9624" y="44957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0119" y="4400550"/>
            <a:ext cx="287647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Calculate Contagion Index (CI)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243" y="1828800"/>
            <a:ext cx="5333866" cy="3238500"/>
          </a:xfrm>
          <a:prstGeom prst="roundRect">
            <a:avLst>
              <a:gd name="adj" fmla="val 14117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48283" y="22288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A855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353" y="2362199"/>
            <a:ext cx="16192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C084FC"/>
                </a:solidFill>
                <a:latin typeface="Poppi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0264" y="2362199"/>
            <a:ext cx="74293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C084FC"/>
                </a:solidFill>
                <a:latin typeface="Poppins"/>
              </a:rPr>
              <a:t>URSP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3093654"/>
            <a:ext cx="342891" cy="2896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05472" y="3086100"/>
            <a:ext cx="158111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Kit Allocation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8283" y="37337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8779" y="3638550"/>
            <a:ext cx="31526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Optimize medical kit distribution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8283" y="41148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8779" y="4019549"/>
            <a:ext cx="293362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Minimize total operational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8283" y="44957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8779" y="4400550"/>
            <a:ext cx="218117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Control shortage levels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2240" y="5524499"/>
            <a:ext cx="152396" cy="152400"/>
          </a:xfrm>
          <a:prstGeom prst="roundRect">
            <a:avLst>
              <a:gd name="adj" fmla="val 1249875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28934" y="5467349"/>
            <a:ext cx="6000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Stage 1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7588" y="5441281"/>
            <a:ext cx="457188" cy="31883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143371" y="5524499"/>
            <a:ext cx="152396" cy="152400"/>
          </a:xfrm>
          <a:prstGeom prst="roundRect">
            <a:avLst>
              <a:gd name="adj" fmla="val 1249875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10064" y="5467349"/>
            <a:ext cx="6381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Stage 2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7293" y="5441281"/>
            <a:ext cx="457188" cy="318836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953076" y="5524499"/>
            <a:ext cx="152396" cy="152400"/>
          </a:xfrm>
          <a:prstGeom prst="roundRect">
            <a:avLst>
              <a:gd name="adj" fmla="val 1249875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19769" y="5467349"/>
            <a:ext cx="16096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Optimal Allocation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54198"/>
            <a:ext cx="380990" cy="29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533386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Machine Learning Component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114550"/>
            <a:ext cx="4238519" cy="3448049"/>
          </a:xfrm>
          <a:prstGeom prst="roundRect">
            <a:avLst>
              <a:gd name="adj" fmla="val 8839"/>
            </a:avLst>
          </a:prstGeom>
          <a:gradFill rotWithShape="1">
            <a:gsLst>
              <a:gs pos="0">
                <a:srgbClr val="164E63">
                  <a:alpha val="2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01" y="2481011"/>
            <a:ext cx="457188" cy="3338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95387" y="2476499"/>
            <a:ext cx="12001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Poppins"/>
              </a:rPr>
              <a:t>Purpose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01" y="3128596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42991" y="3105149"/>
            <a:ext cx="293362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Predict Contagion Levels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2991" y="3448049"/>
            <a:ext cx="293362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Estimate disease spread patterns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3901" y="3937488"/>
            <a:ext cx="304792" cy="1641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2991" y="3867149"/>
            <a:ext cx="304792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Adjust Demand Forecasts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2991" y="4210049"/>
            <a:ext cx="30479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Dynamic demand adjustments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901" y="4664319"/>
            <a:ext cx="304792" cy="2344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42991" y="4629150"/>
            <a:ext cx="310507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Calculate Contagion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2991" y="4972050"/>
            <a:ext cx="310507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Regional impact quantification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9094" y="1771650"/>
            <a:ext cx="1962100" cy="2971800"/>
          </a:xfrm>
          <a:prstGeom prst="roundRect">
            <a:avLst>
              <a:gd name="adj" fmla="val 15533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52956" y="2019299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3451" y="2252229"/>
            <a:ext cx="533386" cy="4485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76738" y="3086100"/>
            <a:ext cx="1466813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60A5FA"/>
                </a:solidFill>
                <a:latin typeface="Poppins"/>
              </a:rP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6738" y="3809999"/>
            <a:ext cx="14668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Ensemble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6738" y="4038599"/>
            <a:ext cx="146681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Multiple decision trees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9789" y="1771650"/>
            <a:ext cx="1962100" cy="2971800"/>
          </a:xfrm>
          <a:prstGeom prst="roundRect">
            <a:avLst>
              <a:gd name="adj" fmla="val 15533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43651" y="2019299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A855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34146" y="2337088"/>
            <a:ext cx="533386" cy="2788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67433" y="3086100"/>
            <a:ext cx="1466813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C084FC"/>
                </a:solidFill>
                <a:latin typeface="Poppins"/>
              </a:rPr>
              <a:t>Gradient Boosting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7433" y="3809999"/>
            <a:ext cx="146681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Sequential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7433" y="4267199"/>
            <a:ext cx="14668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Error correction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20009" y="1771650"/>
            <a:ext cx="1962100" cy="2971800"/>
          </a:xfrm>
          <a:prstGeom prst="roundRect">
            <a:avLst>
              <a:gd name="adj" fmla="val 15533"/>
            </a:avLst>
          </a:prstGeom>
          <a:gradFill rotWithShape="1">
            <a:gsLst>
              <a:gs pos="0">
                <a:srgbClr val="14532D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143871" y="2019299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22C55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34366" y="2337088"/>
            <a:ext cx="533386" cy="27882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67653" y="3086100"/>
            <a:ext cx="1466813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4ADE80"/>
                </a:solidFill>
                <a:latin typeface="Poppins"/>
              </a:rPr>
              <a:t>K-Nearest Neighbors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7653" y="3809999"/>
            <a:ext cx="14668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Distance-based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7653" y="4038599"/>
            <a:ext cx="14668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Non-parametric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29094" y="4972050"/>
            <a:ext cx="6353016" cy="933449"/>
          </a:xfrm>
          <a:prstGeom prst="roundRect">
            <a:avLst>
              <a:gd name="adj" fmla="val 2448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29114" y="5300296"/>
            <a:ext cx="304792" cy="2579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48203" y="5162550"/>
            <a:ext cx="3724181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All algorithms used for regression prediction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562860" y="5346382"/>
            <a:ext cx="228594" cy="16573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867653" y="5162550"/>
            <a:ext cx="1514437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Normalized CI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5953"/>
            <a:ext cx="380990" cy="369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0"/>
            <a:ext cx="705784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Unified Robust Stochastic Programming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683037"/>
            <a:ext cx="4267093" cy="2933699"/>
          </a:xfrm>
          <a:prstGeom prst="roundRect">
            <a:avLst>
              <a:gd name="adj" fmla="val 10389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426" y="1095374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773" y="1299669"/>
            <a:ext cx="342891" cy="2010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5407" y="1228725"/>
            <a:ext cx="35241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60A5FA"/>
                </a:solidFill>
                <a:latin typeface="Poppins"/>
              </a:rPr>
              <a:t>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1895474"/>
            <a:ext cx="361940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Stochastic Programming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426" y="24288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3921" y="2352675"/>
            <a:ext cx="282885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Known-Unknown uncertainty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426" y="28098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3921" y="2733674"/>
            <a:ext cx="266693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Expected cost minimization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426" y="31908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3921" y="3114675"/>
            <a:ext cx="227641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Probability distributions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3776507"/>
            <a:ext cx="4267093" cy="2933699"/>
          </a:xfrm>
          <a:prstGeom prst="roundRect">
            <a:avLst>
              <a:gd name="adj" fmla="val 10389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33426" y="425767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A855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6773" y="4402849"/>
            <a:ext cx="342891" cy="3192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5407" y="4391025"/>
            <a:ext cx="40956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C084FC"/>
                </a:solidFill>
                <a:latin typeface="Poppins"/>
              </a:rPr>
              <a:t>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26" y="5057775"/>
            <a:ext cx="361940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Robust Optimization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26" y="55911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3921" y="5514975"/>
            <a:ext cx="308602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Unknown-Unknown uncertainty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26" y="59721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3921" y="5895974"/>
            <a:ext cx="211449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Worst-case protection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426" y="63531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3921" y="6276975"/>
            <a:ext cx="154301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Montserrat"/>
              </a:rPr>
              <a:t>Uncertainty 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1470" y="1943100"/>
            <a:ext cx="6400639" cy="2590799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505312" y="22669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6B6D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8659" y="2426904"/>
            <a:ext cx="342891" cy="28969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67293" y="2400300"/>
            <a:ext cx="245738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Poppins"/>
              </a:rPr>
              <a:t>URSP Integration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5312" y="3096039"/>
            <a:ext cx="266693" cy="20872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6302" y="3067050"/>
            <a:ext cx="219069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Adjustable weights (Γ)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6302" y="3333749"/>
            <a:ext cx="21906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Balance cost and robustness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57988" y="3087342"/>
            <a:ext cx="266693" cy="22611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38979" y="3067050"/>
            <a:ext cx="22478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Shared decision variables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8979" y="3333749"/>
            <a:ext cx="224784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Coordinated allocation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5312" y="3739390"/>
            <a:ext cx="266693" cy="21741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6302" y="3714750"/>
            <a:ext cx="14001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Dual objective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6302" y="3981449"/>
            <a:ext cx="140013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Cost + Robustness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57988" y="3735042"/>
            <a:ext cx="266693" cy="22611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38979" y="3714750"/>
            <a:ext cx="182875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MSC viability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8979" y="3981449"/>
            <a:ext cx="18287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Operational perspective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81470" y="4762500"/>
            <a:ext cx="6400639" cy="933449"/>
          </a:xfrm>
          <a:prstGeom prst="roundRect">
            <a:avLst>
              <a:gd name="adj" fmla="val 2448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19589" y="5138371"/>
            <a:ext cx="304792" cy="181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38679" y="5095874"/>
            <a:ext cx="11620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Advantages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00699" y="5147786"/>
            <a:ext cx="228594" cy="16287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305492" y="5000625"/>
            <a:ext cx="197162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Less conservative than pure RO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429514" y="5120640"/>
            <a:ext cx="228594" cy="21717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734306" y="5000625"/>
            <a:ext cx="1609684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More robust than pure SP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89904"/>
            <a:ext cx="380990" cy="2678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133349"/>
            <a:ext cx="4286142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URSP Model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362075"/>
            <a:ext cx="5333866" cy="3333749"/>
          </a:xfrm>
          <a:prstGeom prst="roundRect">
            <a:avLst>
              <a:gd name="adj" fmla="val 9142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724353"/>
            <a:ext cx="342891" cy="266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90615" y="1685925"/>
            <a:ext cx="275265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Poppins"/>
              </a:rPr>
              <a:t>Objective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426" y="2257425"/>
            <a:ext cx="4686182" cy="1390650"/>
          </a:xfrm>
          <a:prstGeom prst="roundRect">
            <a:avLst>
              <a:gd name="adj" fmla="val 16438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1545" y="2495550"/>
            <a:ext cx="4209944" cy="9144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SFMono-Regular"/>
              </a:rPr>
              <a:t>min Z = Cost</a:t>
            </a:r>
            <a:r>
              <a:rPr sz="1076" b="0">
                <a:solidFill>
                  <a:srgbClr val="FFFFFF"/>
                </a:solidFill>
                <a:latin typeface="SFMono-Regular"/>
              </a:rPr>
              <a:t>transport</a:t>
            </a:r>
            <a:r>
              <a:rPr sz="1435" b="0">
                <a:solidFill>
                  <a:srgbClr val="FFFFFF"/>
                </a:solidFill>
                <a:latin typeface="SFMono-Regular"/>
              </a:rPr>
              <a:t> + Cost</a:t>
            </a:r>
            <a:r>
              <a:rPr sz="1076" b="0">
                <a:solidFill>
                  <a:srgbClr val="FFFFFF"/>
                </a:solidFill>
                <a:latin typeface="SFMono-Regular"/>
              </a:rPr>
              <a:t>production</a:t>
            </a:r>
            <a:r>
              <a:rPr sz="1435" b="0">
                <a:solidFill>
                  <a:srgbClr val="FFFFFF"/>
                </a:solidFill>
                <a:latin typeface="SFMono-Regular"/>
              </a:rPr>
              <a:t> + Cost</a:t>
            </a:r>
            <a:r>
              <a:rPr sz="1076" b="0">
                <a:solidFill>
                  <a:srgbClr val="FFFFFF"/>
                </a:solidFill>
                <a:latin typeface="SFMono-Regular"/>
              </a:rPr>
              <a:t>backorder</a:t>
            </a:r>
            <a:r>
              <a:rPr sz="1435" b="0">
                <a:solidFill>
                  <a:srgbClr val="FFFFFF"/>
                </a:solidFill>
                <a:latin typeface="SFMono-Regular"/>
              </a:rPr>
              <a:t> + Cost</a:t>
            </a:r>
            <a:r>
              <a:rPr sz="1076" b="0">
                <a:solidFill>
                  <a:srgbClr val="FFFFFF"/>
                </a:solidFill>
                <a:latin typeface="SFMono-Regular"/>
              </a:rPr>
              <a:t>holding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26" y="3844738"/>
            <a:ext cx="190495" cy="1400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0119" y="3800475"/>
            <a:ext cx="112392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Transportation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3666" y="38335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00359" y="3800475"/>
            <a:ext cx="85722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Production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4175031"/>
            <a:ext cx="190495" cy="1652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0119" y="4143375"/>
            <a:ext cx="79055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Backorder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3666" y="4176432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00359" y="4143375"/>
            <a:ext cx="60958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Holding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4924424"/>
            <a:ext cx="5333866" cy="1219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228" y="5195521"/>
            <a:ext cx="304792" cy="2579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76318" y="5172075"/>
            <a:ext cx="309554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084FC"/>
                </a:solidFill>
                <a:latin typeface="Poppins"/>
              </a:rPr>
              <a:t>Robustness Parameter (Γ)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24" y="5629275"/>
            <a:ext cx="4381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Montserrat"/>
              </a:rPr>
              <a:t>Γ = 0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3961" y="5692588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90655" y="5629275"/>
            <a:ext cx="134299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Pure Stochastic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3231" y="5629275"/>
            <a:ext cx="38099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Montserrat"/>
              </a:rPr>
              <a:t>Γ = 1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09944" y="5692588"/>
            <a:ext cx="190495" cy="1400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76638" y="5629275"/>
            <a:ext cx="106677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Pure Robust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243" y="952499"/>
            <a:ext cx="5333866" cy="56007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72085" y="1326602"/>
            <a:ext cx="342891" cy="2423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29274" y="1276350"/>
            <a:ext cx="235261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60A5FA"/>
                </a:solidFill>
                <a:latin typeface="Poppins"/>
              </a:rPr>
              <a:t>Key Constraints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2085" y="1809749"/>
            <a:ext cx="4686182" cy="1162050"/>
          </a:xfrm>
          <a:prstGeom prst="roundRect">
            <a:avLst>
              <a:gd name="adj" fmla="val 19672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772105" y="20097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838779" y="2090276"/>
            <a:ext cx="171445" cy="1437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91195" y="2009774"/>
            <a:ext cx="386705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Inventory 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1195" y="2314575"/>
            <a:ext cx="386705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Allocation + Production = Demand ± Surplus/Shortage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72085" y="3124200"/>
            <a:ext cx="4686182" cy="933449"/>
          </a:xfrm>
          <a:prstGeom prst="roundRect">
            <a:avLst>
              <a:gd name="adj" fmla="val 2448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772105" y="33242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38779" y="3401961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91195" y="3324225"/>
            <a:ext cx="287647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Production Capacity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1195" y="3629025"/>
            <a:ext cx="287647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Total production ≤ Maximum capacity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72085" y="4210049"/>
            <a:ext cx="4686182" cy="933449"/>
          </a:xfrm>
          <a:prstGeom prst="roundRect">
            <a:avLst>
              <a:gd name="adj" fmla="val 2448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772105" y="44100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38779" y="4482280"/>
            <a:ext cx="171445" cy="16038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191195" y="4410074"/>
            <a:ext cx="367655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CVaR Shortage Limits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1195" y="4714875"/>
            <a:ext cx="36765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Restrict shortage levels under confidence level 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72085" y="5295899"/>
            <a:ext cx="4686182" cy="933449"/>
          </a:xfrm>
          <a:prstGeom prst="roundRect">
            <a:avLst>
              <a:gd name="adj" fmla="val 2448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772105" y="54959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38779" y="5584722"/>
            <a:ext cx="171445" cy="12720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191195" y="5495924"/>
            <a:ext cx="146681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Non-negativity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1195" y="5800725"/>
            <a:ext cx="14668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All variables ≥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21456"/>
            <a:ext cx="380990" cy="3571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800279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CVaR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962149"/>
            <a:ext cx="5333866" cy="2000250"/>
          </a:xfrm>
          <a:prstGeom prst="roundRect">
            <a:avLst>
              <a:gd name="adj" fmla="val 15238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2259724"/>
            <a:ext cx="342891" cy="3192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2516" y="2247899"/>
            <a:ext cx="266693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Poppins"/>
              </a:rPr>
              <a:t>Risk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327" y="2781300"/>
            <a:ext cx="2324041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248" y="30048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3941" y="2952750"/>
            <a:ext cx="16287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Restrict Shortages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48" y="3295650"/>
            <a:ext cx="20001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Control shortage levels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3666" y="2781300"/>
            <a:ext cx="2324041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5587" y="3010460"/>
            <a:ext cx="190495" cy="1512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62280" y="2952750"/>
            <a:ext cx="110487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Adjustable 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5587" y="3295650"/>
            <a:ext cx="20001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Confidence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4152899"/>
            <a:ext cx="5333866" cy="1543050"/>
          </a:xfrm>
          <a:prstGeom prst="roundRect">
            <a:avLst>
              <a:gd name="adj" fmla="val 19753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228" y="4435719"/>
            <a:ext cx="304792" cy="2344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76318" y="4400550"/>
            <a:ext cx="168588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084FC"/>
                </a:solidFill>
                <a:latin typeface="Poppins"/>
              </a:rPr>
              <a:t>CVaR Formula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4857750"/>
            <a:ext cx="4838579" cy="590549"/>
          </a:xfrm>
          <a:prstGeom prst="roundRect">
            <a:avLst>
              <a:gd name="adj" fmla="val 3870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9149" y="5029200"/>
            <a:ext cx="4514737" cy="266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FMono-Regular"/>
              </a:rPr>
              <a:t>CVaR</a:t>
            </a:r>
            <a:r>
              <a:rPr sz="777" b="0">
                <a:solidFill>
                  <a:srgbClr val="FFFFFF"/>
                </a:solidFill>
                <a:latin typeface="SFMono-Regular"/>
              </a:rPr>
              <a:t>α</a:t>
            </a:r>
            <a:r>
              <a:rPr sz="1076" b="0">
                <a:solidFill>
                  <a:srgbClr val="FFFFFF"/>
                </a:solidFill>
                <a:latin typeface="SFMono-Regular"/>
              </a:rPr>
              <a:t> = η + (1 / (1-α)) × Σ p</a:t>
            </a:r>
            <a:r>
              <a:rPr sz="777" b="0">
                <a:solidFill>
                  <a:srgbClr val="FFFFFF"/>
                </a:solidFill>
                <a:latin typeface="SFMono-Regular"/>
              </a:rPr>
              <a:t>s</a:t>
            </a:r>
            <a:r>
              <a:rPr sz="1076" b="0">
                <a:solidFill>
                  <a:srgbClr val="FFFFFF"/>
                </a:solidFill>
                <a:latin typeface="SFMono-Regular"/>
              </a:rPr>
              <a:t> × w</a:t>
            </a:r>
            <a:r>
              <a:rPr sz="777" b="0">
                <a:solidFill>
                  <a:srgbClr val="FFFFFF"/>
                </a:solidFill>
                <a:latin typeface="SFMono-Regular"/>
              </a:rPr>
              <a:t>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243" y="1752599"/>
            <a:ext cx="5333866" cy="22098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33986" y="2096965"/>
            <a:ext cx="304792" cy="18756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53076" y="2038349"/>
            <a:ext cx="148586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0A5FA"/>
                </a:solidFill>
                <a:latin typeface="Poppins"/>
              </a:rPr>
              <a:t>CVaR vs VaR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3986" y="24955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29234" y="2627219"/>
            <a:ext cx="190495" cy="1176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29274" y="2495550"/>
            <a:ext cx="309554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Value at Risk (VaR)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9274" y="2800350"/>
            <a:ext cx="30955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Single point estimate at confidence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3986" y="31432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22C55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29234" y="3280522"/>
            <a:ext cx="190495" cy="10645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29274" y="3143250"/>
            <a:ext cx="246691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Conditional VaR (CVaR)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9274" y="3448049"/>
            <a:ext cx="24669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Average of losses exceeding VaR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8243" y="4152899"/>
            <a:ext cx="2590735" cy="97155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7F1D1D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825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62620" y="4382742"/>
            <a:ext cx="266693" cy="2261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05512" y="4362450"/>
            <a:ext cx="41908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7171"/>
                </a:solidFill>
                <a:latin typeface="Montserrat"/>
              </a:rPr>
              <a:t>α =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8263" y="4705350"/>
            <a:ext cx="21906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Risk Neutral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1375" y="4152899"/>
            <a:ext cx="2590735" cy="97155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14532D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825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934326" y="4382742"/>
            <a:ext cx="266693" cy="22611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77218" y="4362450"/>
            <a:ext cx="36194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DE80"/>
                </a:solidFill>
                <a:latin typeface="Montserrat"/>
              </a:rPr>
              <a:t>α =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1395" y="4705350"/>
            <a:ext cx="21906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Worst Case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48243" y="5314950"/>
            <a:ext cx="5333866" cy="590549"/>
          </a:xfrm>
          <a:prstGeom prst="roundRect">
            <a:avLst>
              <a:gd name="adj" fmla="val 3870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10164" y="5531167"/>
            <a:ext cx="228594" cy="1771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14957" y="5486400"/>
            <a:ext cx="101914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Key Benefit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6522" y="5505450"/>
            <a:ext cx="333366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Realistic shortage control for MSC resilience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39315"/>
            <a:ext cx="380990" cy="3214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542911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Taguchi Design of Experiments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581149"/>
            <a:ext cx="4267093" cy="3105149"/>
          </a:xfrm>
          <a:prstGeom prst="roundRect">
            <a:avLst>
              <a:gd name="adj" fmla="val 9815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1878724"/>
            <a:ext cx="342891" cy="3192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2516" y="1866899"/>
            <a:ext cx="303839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Poppins"/>
              </a:rPr>
              <a:t>Government Policies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327" y="2400300"/>
            <a:ext cx="3695607" cy="590549"/>
          </a:xfrm>
          <a:prstGeom prst="roundRect">
            <a:avLst>
              <a:gd name="adj" fmla="val 25806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248" y="2577465"/>
            <a:ext cx="228594" cy="21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2040" y="2552700"/>
            <a:ext cx="10762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Legislation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327" y="3105149"/>
            <a:ext cx="3695607" cy="590549"/>
          </a:xfrm>
          <a:prstGeom prst="roundRect">
            <a:avLst>
              <a:gd name="adj" fmla="val 25806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7248" y="33023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2040" y="3257550"/>
            <a:ext cx="172398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Higher Education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3809999"/>
            <a:ext cx="3695607" cy="590549"/>
          </a:xfrm>
          <a:prstGeom prst="roundRect">
            <a:avLst>
              <a:gd name="adj" fmla="val 25806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7248" y="4007167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62040" y="3962399"/>
            <a:ext cx="10762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Healthcare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876800"/>
            <a:ext cx="4267093" cy="1219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7228" y="5147896"/>
            <a:ext cx="304792" cy="2579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76318" y="5124449"/>
            <a:ext cx="204782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084FC"/>
                </a:solidFill>
                <a:latin typeface="Poppins"/>
              </a:rPr>
              <a:t>Contagion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28" y="5581649"/>
            <a:ext cx="37718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Varying contagion levels across regions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1470" y="1485900"/>
            <a:ext cx="6400639" cy="3905249"/>
          </a:xfrm>
          <a:prstGeom prst="roundRect">
            <a:avLst>
              <a:gd name="adj" fmla="val 7804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5312" y="1848178"/>
            <a:ext cx="342891" cy="26604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62500" y="1809749"/>
            <a:ext cx="257168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60A5FA"/>
                </a:solidFill>
                <a:latin typeface="Poppins"/>
              </a:rPr>
              <a:t>Orthogonal Array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05312" y="2381250"/>
            <a:ext cx="1819229" cy="781050"/>
          </a:xfrm>
          <a:prstGeom prst="roundRect">
            <a:avLst>
              <a:gd name="adj" fmla="val 19512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7233" y="2552700"/>
            <a:ext cx="149538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Factor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7233" y="2819399"/>
            <a:ext cx="149538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Legislation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6938" y="2381250"/>
            <a:ext cx="1819229" cy="781050"/>
          </a:xfrm>
          <a:prstGeom prst="roundRect">
            <a:avLst>
              <a:gd name="adj" fmla="val 19512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8859" y="2552700"/>
            <a:ext cx="149538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Factor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8859" y="2819399"/>
            <a:ext cx="149538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Education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39039" y="2381250"/>
            <a:ext cx="1819229" cy="781050"/>
          </a:xfrm>
          <a:prstGeom prst="roundRect">
            <a:avLst>
              <a:gd name="adj" fmla="val 19512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0959" y="2552700"/>
            <a:ext cx="149538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Factor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0959" y="2819399"/>
            <a:ext cx="149538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Healthcare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05312" y="3390899"/>
            <a:ext cx="1838279" cy="476249"/>
          </a:xfrm>
          <a:prstGeom prst="roundRect">
            <a:avLst>
              <a:gd name="adj" fmla="val 32000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29134" y="3524250"/>
            <a:ext cx="159063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7888" y="3390899"/>
            <a:ext cx="1838279" cy="476249"/>
          </a:xfrm>
          <a:prstGeom prst="roundRect">
            <a:avLst>
              <a:gd name="adj" fmla="val 32000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1710" y="3524250"/>
            <a:ext cx="159063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Medium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9989" y="3390899"/>
            <a:ext cx="1838279" cy="476249"/>
          </a:xfrm>
          <a:prstGeom prst="roundRect">
            <a:avLst>
              <a:gd name="adj" fmla="val 32000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43811" y="3524250"/>
            <a:ext cx="159063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High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05312" y="4095749"/>
            <a:ext cx="1819229" cy="97155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1E3A8A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952976" y="43053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76798" y="4343400"/>
            <a:ext cx="5714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60A5FA"/>
                </a:solidFill>
                <a:latin typeface="Montserrat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3966" y="4324349"/>
            <a:ext cx="53338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Case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05332" y="4686300"/>
            <a:ext cx="141918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L-L-L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76938" y="4095749"/>
            <a:ext cx="1819229" cy="97155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581C87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825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905552" y="43053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A855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10324" y="4343400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C084FC"/>
                </a:solidFill>
                <a:latin typeface="Montserrat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542" y="4324349"/>
            <a:ext cx="5714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Case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76958" y="4686300"/>
            <a:ext cx="141918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M-M-M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39039" y="4095749"/>
            <a:ext cx="1819229" cy="97155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14532D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825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867653" y="43053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22C55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72425" y="4343400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ADE80"/>
                </a:solidFill>
                <a:latin typeface="Montserrat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8643" y="4324349"/>
            <a:ext cx="5714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Case 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39059" y="4686300"/>
            <a:ext cx="141918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H-H-H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81470" y="5581649"/>
            <a:ext cx="6400639" cy="590549"/>
          </a:xfrm>
          <a:prstGeom prst="roundRect">
            <a:avLst>
              <a:gd name="adj" fmla="val 3870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43391" y="5803582"/>
            <a:ext cx="228594" cy="16573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648183" y="5753099"/>
            <a:ext cx="189542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9 Experimental Cases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38959" y="5772150"/>
            <a:ext cx="278123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Comprehensive policy combinations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39315"/>
            <a:ext cx="380990" cy="3214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7295967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Case Study: Turkey Medical Supply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200150"/>
            <a:ext cx="5333866" cy="3905249"/>
          </a:xfrm>
          <a:prstGeom prst="roundRect">
            <a:avLst>
              <a:gd name="adj" fmla="val 7804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1512504"/>
            <a:ext cx="342891" cy="28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2516" y="1485900"/>
            <a:ext cx="320984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2D3EE"/>
                </a:solidFill>
                <a:latin typeface="Poppins"/>
              </a:rPr>
              <a:t>Network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327" y="2019299"/>
            <a:ext cx="4762380" cy="857250"/>
          </a:xfrm>
          <a:prstGeom prst="roundRect">
            <a:avLst>
              <a:gd name="adj" fmla="val 17777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248" y="221646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2040" y="2171700"/>
            <a:ext cx="90485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Hospitals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48" y="2476499"/>
            <a:ext cx="443853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Multiple hospitals across regions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327" y="2990849"/>
            <a:ext cx="4762380" cy="857250"/>
          </a:xfrm>
          <a:prstGeom prst="roundRect">
            <a:avLst>
              <a:gd name="adj" fmla="val 17777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7248" y="31880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62040" y="3143250"/>
            <a:ext cx="194305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Medical Warehouse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48" y="3448049"/>
            <a:ext cx="443853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Central distribution 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3962399"/>
            <a:ext cx="4762380" cy="857250"/>
          </a:xfrm>
          <a:prstGeom prst="roundRect">
            <a:avLst>
              <a:gd name="adj" fmla="val 17777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7248" y="4150994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62040" y="4114800"/>
            <a:ext cx="81912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Supplier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48" y="4419600"/>
            <a:ext cx="443853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Kit production and 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5295899"/>
            <a:ext cx="5333866" cy="118109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7228" y="5587511"/>
            <a:ext cx="304792" cy="2168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76318" y="5543550"/>
            <a:ext cx="277170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084FC"/>
                </a:solidFill>
                <a:latin typeface="Poppins"/>
              </a:rPr>
              <a:t>Real-World Application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228" y="6033807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3921" y="6000750"/>
            <a:ext cx="186685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Actual demand patterns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43171" y="603380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09864" y="6000750"/>
            <a:ext cx="121916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Real constraints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243" y="1123949"/>
            <a:ext cx="5333866" cy="542925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72085" y="1486228"/>
            <a:ext cx="342891" cy="26604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29274" y="1447800"/>
            <a:ext cx="325746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60A5FA"/>
                </a:solidFill>
                <a:latin typeface="Poppins"/>
              </a:rPr>
              <a:t>Supply Chain Network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2085" y="1981199"/>
            <a:ext cx="4686182" cy="2667000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72085" y="4876800"/>
            <a:ext cx="1457288" cy="1352549"/>
          </a:xfrm>
          <a:prstGeom prst="roundRect">
            <a:avLst>
              <a:gd name="adj" fmla="val 11267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72145" y="5058189"/>
            <a:ext cx="266693" cy="20872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34006" y="5372100"/>
            <a:ext cx="11334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Hospitals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4006" y="5676900"/>
            <a:ext cx="113344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Demand 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1770" y="4876800"/>
            <a:ext cx="1457288" cy="1352549"/>
          </a:xfrm>
          <a:prstGeom prst="roundRect">
            <a:avLst>
              <a:gd name="adj" fmla="val 11267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781830" y="5058189"/>
            <a:ext cx="266693" cy="20872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43691" y="5372100"/>
            <a:ext cx="11334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Warehouse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3691" y="5676900"/>
            <a:ext cx="1133446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Storage &amp; distribution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00979" y="4876800"/>
            <a:ext cx="1457288" cy="1352549"/>
          </a:xfrm>
          <a:prstGeom prst="roundRect">
            <a:avLst>
              <a:gd name="adj" fmla="val 11267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391515" y="5049492"/>
            <a:ext cx="266693" cy="22611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62900" y="5372100"/>
            <a:ext cx="11334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Supplier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2900" y="5676900"/>
            <a:ext cx="113344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Kit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21456"/>
            <a:ext cx="380990" cy="3571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396230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Comparative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695449"/>
            <a:ext cx="4295667" cy="2667000"/>
          </a:xfrm>
          <a:prstGeom prst="roundRect">
            <a:avLst>
              <a:gd name="adj" fmla="val 11428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1978269"/>
            <a:ext cx="304792" cy="234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76318" y="1943100"/>
            <a:ext cx="258121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Poppins"/>
              </a:rPr>
              <a:t>Modeling Approaches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28" y="2400300"/>
            <a:ext cx="1847803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050" y="2589119"/>
            <a:ext cx="190495" cy="1176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47743" y="2533649"/>
            <a:ext cx="20954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50" y="2800350"/>
            <a:ext cx="1600159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Stochastic Programming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9329" y="2400300"/>
            <a:ext cx="1847803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3151" y="2558302"/>
            <a:ext cx="190495" cy="1792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9844" y="2533649"/>
            <a:ext cx="2381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3151" y="2800350"/>
            <a:ext cx="16001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Robust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3409950"/>
            <a:ext cx="1847803" cy="704849"/>
          </a:xfrm>
          <a:prstGeom prst="roundRect">
            <a:avLst>
              <a:gd name="adj" fmla="val 21621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1050" y="3565151"/>
            <a:ext cx="190495" cy="1848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47743" y="3543300"/>
            <a:ext cx="43813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URSP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50" y="3809999"/>
            <a:ext cx="16001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Unified Approach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9329" y="3409950"/>
            <a:ext cx="1847803" cy="704849"/>
          </a:xfrm>
          <a:prstGeom prst="roundRect">
            <a:avLst>
              <a:gd name="adj" fmla="val 21621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3151" y="3567952"/>
            <a:ext cx="190495" cy="17929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09844" y="3543300"/>
            <a:ext cx="41908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CVaR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3151" y="3809999"/>
            <a:ext cx="16001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Risk Measure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514850"/>
            <a:ext cx="4295667" cy="14478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228" y="4785946"/>
            <a:ext cx="304792" cy="2579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76318" y="4762500"/>
            <a:ext cx="122869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084FC"/>
                </a:solidFill>
                <a:latin typeface="Poppins"/>
              </a:rPr>
              <a:t>Variations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7228" y="5230761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04872" y="5181599"/>
            <a:ext cx="170493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With CVaR constraints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7228" y="553556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04872" y="5486400"/>
            <a:ext cx="196210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Without CVaR constraints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33846" y="1114425"/>
            <a:ext cx="2047823" cy="2514600"/>
          </a:xfrm>
          <a:prstGeom prst="roundRect">
            <a:avLst>
              <a:gd name="adj" fmla="val 11162"/>
            </a:avLst>
          </a:prstGeom>
          <a:gradFill rotWithShape="1">
            <a:gsLst>
              <a:gs pos="0">
                <a:srgbClr val="1E3A8A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43391" y="1388745"/>
            <a:ext cx="228594" cy="13715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48183" y="1323974"/>
            <a:ext cx="7715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Montserrat"/>
              </a:rPr>
              <a:t>SP-CVaR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81630" y="1376082"/>
            <a:ext cx="190495" cy="16248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43391" y="1743075"/>
            <a:ext cx="152396" cy="1143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71985" y="1704975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Known-Unknown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43391" y="2009774"/>
            <a:ext cx="152396" cy="1143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71985" y="1971675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Risk Averse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43391" y="2276474"/>
            <a:ext cx="152396" cy="1143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71985" y="2238375"/>
            <a:ext cx="114297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Shortage Control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34066" y="1114425"/>
            <a:ext cx="2047823" cy="2514600"/>
          </a:xfrm>
          <a:prstGeom prst="roundRect">
            <a:avLst>
              <a:gd name="adj" fmla="val 11162"/>
            </a:avLst>
          </a:prstGeom>
          <a:gradFill rotWithShape="1">
            <a:gsLst>
              <a:gs pos="0">
                <a:srgbClr val="581C87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43611" y="1388745"/>
            <a:ext cx="228594" cy="13715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48403" y="1323974"/>
            <a:ext cx="100962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084FC"/>
                </a:solidFill>
                <a:latin typeface="Montserrat"/>
              </a:rPr>
              <a:t>SP-noCVaR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981850" y="1376082"/>
            <a:ext cx="190495" cy="16248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43611" y="1743075"/>
            <a:ext cx="152396" cy="1143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772205" y="1704975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Known-Unknown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43611" y="2009774"/>
            <a:ext cx="152396" cy="1143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772205" y="1971675"/>
            <a:ext cx="80960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Risk Neutral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43611" y="2276474"/>
            <a:ext cx="152396" cy="1143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772205" y="2238375"/>
            <a:ext cx="136204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No Shortage Control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34286" y="1114425"/>
            <a:ext cx="2047823" cy="2514600"/>
          </a:xfrm>
          <a:prstGeom prst="roundRect">
            <a:avLst>
              <a:gd name="adj" fmla="val 11162"/>
            </a:avLst>
          </a:prstGeom>
          <a:gradFill rotWithShape="1">
            <a:gsLst>
              <a:gs pos="0">
                <a:srgbClr val="164E63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743831" y="1348739"/>
            <a:ext cx="228594" cy="21717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048623" y="1323974"/>
            <a:ext cx="8096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Montserrat"/>
              </a:rPr>
              <a:t>RO-CVaR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182070" y="1376082"/>
            <a:ext cx="190495" cy="16248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743831" y="1743075"/>
            <a:ext cx="152396" cy="1143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972425" y="1704975"/>
            <a:ext cx="136204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Unknown-Unknown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743831" y="2009774"/>
            <a:ext cx="152396" cy="1143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972425" y="1971675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Risk Averse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743831" y="2276474"/>
            <a:ext cx="152396" cy="1143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972425" y="2238375"/>
            <a:ext cx="76198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Worst-Case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33846" y="3771900"/>
            <a:ext cx="2047823" cy="2781300"/>
          </a:xfrm>
          <a:prstGeom prst="roundRect">
            <a:avLst>
              <a:gd name="adj" fmla="val 11162"/>
            </a:avLst>
          </a:prstGeom>
          <a:gradFill rotWithShape="1">
            <a:gsLst>
              <a:gs pos="0">
                <a:srgbClr val="1E3A8A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343391" y="4006214"/>
            <a:ext cx="228594" cy="21717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648183" y="3981449"/>
            <a:ext cx="10381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Montserrat"/>
              </a:rPr>
              <a:t>RO-noCVaR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81630" y="4033557"/>
            <a:ext cx="190495" cy="162485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43391" y="4400550"/>
            <a:ext cx="152396" cy="1143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571985" y="4362450"/>
            <a:ext cx="136204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Unknown-Unknown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43391" y="4667249"/>
            <a:ext cx="152396" cy="1143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571985" y="4629150"/>
            <a:ext cx="80960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Risk Neutral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43391" y="4933950"/>
            <a:ext cx="152396" cy="1143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571985" y="4895849"/>
            <a:ext cx="121916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Most Conservative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34066" y="3771900"/>
            <a:ext cx="2047823" cy="2781300"/>
          </a:xfrm>
          <a:prstGeom prst="roundRect">
            <a:avLst>
              <a:gd name="adj" fmla="val 11162"/>
            </a:avLst>
          </a:prstGeom>
          <a:gradFill rotWithShape="1">
            <a:gsLst>
              <a:gs pos="0">
                <a:srgbClr val="14532D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543611" y="4003357"/>
            <a:ext cx="228594" cy="22288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848403" y="3981449"/>
            <a:ext cx="10381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DE80"/>
                </a:solidFill>
                <a:latin typeface="Montserrat"/>
              </a:rPr>
              <a:t>URSP-CVaR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981850" y="4036358"/>
            <a:ext cx="190495" cy="156882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43611" y="4400550"/>
            <a:ext cx="152396" cy="1143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7772205" y="4362450"/>
            <a:ext cx="125726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Both Uncertainties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43611" y="4667249"/>
            <a:ext cx="152396" cy="1143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772205" y="4629150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Risk Averse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43611" y="4933950"/>
            <a:ext cx="152396" cy="1143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772205" y="4895849"/>
            <a:ext cx="131441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Balanced Approach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34286" y="3771900"/>
            <a:ext cx="2047823" cy="2781300"/>
          </a:xfrm>
          <a:prstGeom prst="roundRect">
            <a:avLst>
              <a:gd name="adj" fmla="val 11162"/>
            </a:avLst>
          </a:prstGeom>
          <a:gradFill rotWithShape="1">
            <a:gsLst>
              <a:gs pos="0">
                <a:srgbClr val="7C2D12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743831" y="4136707"/>
            <a:ext cx="228594" cy="222884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048623" y="3981449"/>
            <a:ext cx="1133446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923C"/>
                </a:solidFill>
                <a:latin typeface="Montserrat"/>
              </a:rPr>
              <a:t>URSP-noCVaR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1182070" y="4169708"/>
            <a:ext cx="190495" cy="156882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743831" y="4667249"/>
            <a:ext cx="152396" cy="11430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972425" y="4629150"/>
            <a:ext cx="125726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Both Uncertainties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743831" y="4933950"/>
            <a:ext cx="152396" cy="11430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972425" y="4895849"/>
            <a:ext cx="80960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Risk Neutral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743831" y="5200650"/>
            <a:ext cx="152396" cy="1143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972425" y="5162550"/>
            <a:ext cx="10381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Optimized Cost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83964"/>
            <a:ext cx="380990" cy="2321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455283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Cost Performance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733550"/>
            <a:ext cx="6400639" cy="4000500"/>
          </a:xfrm>
          <a:prstGeom prst="roundRect">
            <a:avLst>
              <a:gd name="adj" fmla="val 7619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7228" y="1981199"/>
            <a:ext cx="269550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0A5FA"/>
                </a:solidFill>
                <a:latin typeface="Poppins"/>
              </a:rPr>
              <a:t>Total Cost Comparison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718" y="2070735"/>
            <a:ext cx="228594" cy="1257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81510" y="2019299"/>
            <a:ext cx="118107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ADE80"/>
                </a:solidFill>
                <a:latin typeface="Montserrat"/>
              </a:rPr>
              <a:t>Lower is Better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28" y="2476499"/>
            <a:ext cx="1866853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9149" y="2647949"/>
            <a:ext cx="154301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Stochastic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49" y="2914650"/>
            <a:ext cx="154301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60A5FA"/>
                </a:solidFill>
                <a:latin typeface="Montserrat"/>
              </a:rPr>
              <a:t>$2.8M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49" y="3295650"/>
            <a:ext cx="1543011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Montserrat"/>
              </a:rPr>
              <a:t>SP-CVaR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6478" y="2476499"/>
            <a:ext cx="1866853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8399" y="2647949"/>
            <a:ext cx="154301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Robust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8399" y="2914650"/>
            <a:ext cx="154301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C084FC"/>
                </a:solidFill>
                <a:latin typeface="Montserrat"/>
              </a:rPr>
              <a:t>$4.2M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8399" y="3295650"/>
            <a:ext cx="1543011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Montserrat"/>
              </a:rPr>
              <a:t>RO-CVaR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5727" y="2476499"/>
            <a:ext cx="1866853" cy="11430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14532D">
                  <a:alpha val="3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67173" y="2647949"/>
            <a:ext cx="152396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URSP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7173" y="2914650"/>
            <a:ext cx="152396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4ADE80"/>
                </a:solidFill>
                <a:latin typeface="Montserrat"/>
              </a:rPr>
              <a:t>$3.4M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7173" y="3295650"/>
            <a:ext cx="1523961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Montserrat"/>
              </a:rPr>
              <a:t>URSP-CVaR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3771900"/>
            <a:ext cx="5905352" cy="1714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017" y="1943100"/>
            <a:ext cx="4267093" cy="18288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561" y="2168769"/>
            <a:ext cx="304792" cy="2725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43651" y="2152650"/>
            <a:ext cx="208592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Poppins"/>
              </a:rPr>
              <a:t>URSP Advantages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561" y="262385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29354" y="2609850"/>
            <a:ext cx="207639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+18% More Robust than 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9354" y="2838450"/>
            <a:ext cx="207639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Better uncertainty protection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561" y="31572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29354" y="3143250"/>
            <a:ext cx="173350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-19% Cheaper than 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9354" y="3371850"/>
            <a:ext cx="173350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Cost-effective allocation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017" y="3924299"/>
            <a:ext cx="4267093" cy="179070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561" y="4173415"/>
            <a:ext cx="304792" cy="22566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43651" y="4133849"/>
            <a:ext cx="149538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084FC"/>
                </a:solidFill>
                <a:latin typeface="Poppins"/>
              </a:rPr>
              <a:t>Key Findings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561" y="4651272"/>
            <a:ext cx="171445" cy="1272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72205" y="4591050"/>
            <a:ext cx="199067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Optimal balance achieved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561" y="4994172"/>
            <a:ext cx="171445" cy="1272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772205" y="4933950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Adjustable robustness (Γ)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561" y="5337072"/>
            <a:ext cx="171445" cy="12720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205" y="5276850"/>
            <a:ext cx="165730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Superior MSC viability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54198"/>
            <a:ext cx="380990" cy="29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595297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Shortage Analysis &amp; CVaR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885950"/>
            <a:ext cx="5333866" cy="28956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2203938"/>
            <a:ext cx="304792" cy="1641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76318" y="2133599"/>
            <a:ext cx="300982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Poppins"/>
              </a:rPr>
              <a:t>CVaR Control Mechanism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28" y="26289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525" y="2760345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28714" y="2628900"/>
            <a:ext cx="288600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Restrict Shortage Levels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14" y="2933699"/>
            <a:ext cx="288600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Control maximum allowable shortage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28" y="33147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25" y="3434715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28714" y="3314700"/>
            <a:ext cx="19621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Confidence Level 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14" y="3619499"/>
            <a:ext cx="196210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Adjustable risk parameter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40005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4120514"/>
            <a:ext cx="228594" cy="2171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28714" y="4000500"/>
            <a:ext cx="22287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MSC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14" y="4305300"/>
            <a:ext cx="222879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Montserrat"/>
              </a:rPr>
              <a:t>Ensures supply chain viability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243" y="1600200"/>
            <a:ext cx="5333866" cy="24384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5887" y="1902929"/>
            <a:ext cx="266693" cy="1565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76878" y="1847849"/>
            <a:ext cx="209544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60A5FA"/>
                </a:solidFill>
                <a:latin typeface="Poppins"/>
              </a:rPr>
              <a:t>Shortage Distribution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5887" y="2266950"/>
            <a:ext cx="4838579" cy="1523999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48243" y="4229100"/>
            <a:ext cx="2590735" cy="10287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7F1D1D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19689" y="4444813"/>
            <a:ext cx="190495" cy="1400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86382" y="4400550"/>
            <a:ext cx="51433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87171"/>
                </a:solidFill>
                <a:latin typeface="Montserrat"/>
              </a:rPr>
              <a:t>High α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38939" y="4421981"/>
            <a:ext cx="228594" cy="18573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19689" y="4705350"/>
            <a:ext cx="224784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More Risk-Averse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689" y="4895849"/>
            <a:ext cx="224784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Lower shortage levels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91375" y="4229100"/>
            <a:ext cx="2590735" cy="10287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14532D">
                  <a:alpha val="40000"/>
                </a:srgbClr>
              </a:gs>
              <a:gs pos="100000">
                <a:srgbClr val="0F172A">
                  <a:alpha val="50000"/>
                </a:srgbClr>
              </a:gs>
            </a:gsLst>
            <a:lin ang="8100000" scaled="0"/>
          </a:gradFill>
          <a:ln w="1651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162820" y="4444813"/>
            <a:ext cx="190495" cy="14007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429514" y="4400550"/>
            <a:ext cx="4667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ADE80"/>
                </a:solidFill>
                <a:latin typeface="Montserrat"/>
              </a:rPr>
              <a:t>Low α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182070" y="4417695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62820" y="4705350"/>
            <a:ext cx="224784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Montserrat"/>
              </a:rPr>
              <a:t>More Risk-Neutral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820" y="4895849"/>
            <a:ext cx="224784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Higher shortage levels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584" y="6038849"/>
            <a:ext cx="10972525" cy="590549"/>
          </a:xfrm>
          <a:prstGeom prst="roundRect">
            <a:avLst>
              <a:gd name="adj" fmla="val 38709"/>
            </a:avLst>
          </a:prstGeom>
          <a:gradFill rotWithShape="1">
            <a:gsLst>
              <a:gs pos="0">
                <a:srgbClr val="164E63">
                  <a:alpha val="20000"/>
                </a:srgbClr>
              </a:gs>
              <a:gs pos="100000">
                <a:srgbClr val="581C87">
                  <a:alpha val="20000"/>
                </a:srgbClr>
              </a:gs>
            </a:gsLst>
            <a:lin ang="10800000" scaled="0"/>
          </a:gra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71505" y="6221067"/>
            <a:ext cx="266693" cy="22611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52496" y="6200775"/>
            <a:ext cx="185732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Managerial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1015" y="6219825"/>
            <a:ext cx="602917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CVaR enables balanced risk management while maintaining cost-effectiveness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39315"/>
            <a:ext cx="380990" cy="3214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353368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Managerial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391015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4532D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1263894"/>
            <a:ext cx="304792" cy="2725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8219" y="1247775"/>
            <a:ext cx="197162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ADE80"/>
                </a:solidFill>
                <a:latin typeface="Poppins"/>
              </a:rPr>
              <a:t>Optimal Balance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29" y="1706511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73" y="1666874"/>
            <a:ext cx="256216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URSP outperforms pure methods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129" y="2036199"/>
            <a:ext cx="171445" cy="995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6773" y="1971675"/>
            <a:ext cx="243833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Better cost-robustness trade-off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1095" y="1038224"/>
            <a:ext cx="5391015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E3A8A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0639" y="1256567"/>
            <a:ext cx="304792" cy="2872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9729" y="1247775"/>
            <a:ext cx="213354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0A5FA"/>
                </a:solidFill>
                <a:latin typeface="Poppins"/>
              </a:rPr>
              <a:t>Risk Management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0639" y="1700980"/>
            <a:ext cx="171445" cy="1603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48283" y="1666874"/>
            <a:ext cx="22383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CVaR controls shortage levels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639" y="2008545"/>
            <a:ext cx="171445" cy="1548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48283" y="1971675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Enhanced MSC resilience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2600325"/>
            <a:ext cx="5391015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9129" y="2818667"/>
            <a:ext cx="304792" cy="2872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8219" y="2809875"/>
            <a:ext cx="160968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084FC"/>
                </a:solidFill>
                <a:latin typeface="Poppins"/>
              </a:rPr>
              <a:t>Policy Impact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9129" y="3265845"/>
            <a:ext cx="171445" cy="1548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6773" y="3228975"/>
            <a:ext cx="21430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Government policies matter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9129" y="3584472"/>
            <a:ext cx="171445" cy="1272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6773" y="3533774"/>
            <a:ext cx="185732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Taguchi design effective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1095" y="2600325"/>
            <a:ext cx="5391015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00639" y="2845044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19729" y="2809875"/>
            <a:ext cx="169540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Poppins"/>
              </a:rPr>
              <a:t>ML Integration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00639" y="326861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48283" y="3228975"/>
            <a:ext cx="237166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Contagion prediction improves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00639" y="3598299"/>
            <a:ext cx="171445" cy="995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48283" y="3533774"/>
            <a:ext cx="232404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Demand adjustment accuracy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" y="4162424"/>
            <a:ext cx="10972525" cy="14478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713F12">
                  <a:alpha val="20000"/>
                </a:srgbClr>
              </a:gs>
              <a:gs pos="100000">
                <a:srgbClr val="7C2D12">
                  <a:alpha val="20000"/>
                </a:srgbClr>
              </a:gs>
            </a:gsLst>
            <a:lin ang="10800000" scaled="0"/>
          </a:gradFill>
          <a:ln w="1651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19129" y="4395421"/>
            <a:ext cx="304792" cy="2579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38219" y="4371975"/>
            <a:ext cx="300982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ACC15"/>
                </a:solidFill>
                <a:latin typeface="Poppins"/>
              </a:rPr>
              <a:t>Policy Recommendations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19129" y="4816288"/>
            <a:ext cx="190495" cy="1400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85822" y="4791075"/>
            <a:ext cx="171445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Adopt URSP approach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90915" y="4816288"/>
            <a:ext cx="190495" cy="14007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657608" y="4791075"/>
            <a:ext cx="187637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Integrate ML predictions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953176" y="4816288"/>
            <a:ext cx="190495" cy="14007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19869" y="4791075"/>
            <a:ext cx="186685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Use CVaR for risk control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19129" y="5197288"/>
            <a:ext cx="190495" cy="14007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5822" y="5172075"/>
            <a:ext cx="161920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Adjust Γ per priorities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90915" y="5197288"/>
            <a:ext cx="190495" cy="14007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657608" y="5172075"/>
            <a:ext cx="187637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Monitor contagion levels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953176" y="5197288"/>
            <a:ext cx="190495" cy="14007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219869" y="5172075"/>
            <a:ext cx="20668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Implement Taguchi design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584" y="5800725"/>
            <a:ext cx="3552736" cy="819149"/>
          </a:xfrm>
          <a:prstGeom prst="roundRect">
            <a:avLst>
              <a:gd name="adj" fmla="val 18604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33486" y="6003131"/>
            <a:ext cx="228594" cy="18573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838279" y="5962650"/>
            <a:ext cx="14001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ADE80"/>
                </a:solidFill>
                <a:latin typeface="Montserrat"/>
              </a:rPr>
              <a:t>Cost-Effective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505" y="6267449"/>
            <a:ext cx="322889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19% cheaper than RO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14717" y="5800725"/>
            <a:ext cx="3552736" cy="819149"/>
          </a:xfrm>
          <a:prstGeom prst="roundRect">
            <a:avLst>
              <a:gd name="adj" fmla="val 18604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91035" y="5987415"/>
            <a:ext cx="228594" cy="21717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95827" y="5962650"/>
            <a:ext cx="71435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60A5FA"/>
                </a:solidFill>
                <a:latin typeface="Montserrat"/>
              </a:rPr>
              <a:t>Robust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6638" y="6267449"/>
            <a:ext cx="322889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18% more robust than SP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9374" y="5800725"/>
            <a:ext cx="3552736" cy="819149"/>
          </a:xfrm>
          <a:prstGeom prst="roundRect">
            <a:avLst>
              <a:gd name="adj" fmla="val 18604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343791" y="6014561"/>
            <a:ext cx="228594" cy="16287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648583" y="5962650"/>
            <a:ext cx="6286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C084FC"/>
                </a:solidFill>
                <a:latin typeface="Montserrat"/>
              </a:rPr>
              <a:t>Viable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1295" y="6267449"/>
            <a:ext cx="322889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Survives pandemics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44648"/>
            <a:ext cx="380990" cy="29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0"/>
            <a:ext cx="318127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Key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695325"/>
            <a:ext cx="3505112" cy="3590924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81150" y="9429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95467" y="1133475"/>
            <a:ext cx="13334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2D3EE"/>
                </a:solidFill>
                <a:latin typeface="Poppins"/>
              </a:rPr>
              <a:t>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397" y="1863287"/>
            <a:ext cx="342891" cy="331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71585" y="1876424"/>
            <a:ext cx="20382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Poppins"/>
              </a:rPr>
              <a:t>Novel Integration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228" y="2363736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872" y="2352675"/>
            <a:ext cx="183827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URSP approach for MSC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228" y="2706636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4872" y="2695575"/>
            <a:ext cx="161920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Medical kit allocation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228" y="3049536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4872" y="3038475"/>
            <a:ext cx="20954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Both uncertainties handled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8" y="3581400"/>
            <a:ext cx="300982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Enhances MSC viability during pandemics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291" y="695325"/>
            <a:ext cx="3505112" cy="3590924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14857" y="9429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00599" y="1133475"/>
            <a:ext cx="200019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C084FC"/>
                </a:solidFill>
                <a:latin typeface="Poppins"/>
              </a:rPr>
              <a:t>2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0935" y="2029153"/>
            <a:ext cx="342891" cy="26604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48123" y="1857375"/>
            <a:ext cx="2552636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084FC"/>
                </a:solidFill>
                <a:latin typeface="Poppins"/>
              </a:rPr>
              <a:t>Comprehensive Methodology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0935" y="2630436"/>
            <a:ext cx="171445" cy="1493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38579" y="2619374"/>
            <a:ext cx="187637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ML contagion prediction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0935" y="2973336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38579" y="2962274"/>
            <a:ext cx="129536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CVaR risk control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0935" y="3316236"/>
            <a:ext cx="171445" cy="1493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38579" y="3305174"/>
            <a:ext cx="14477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URSP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935" y="3848099"/>
            <a:ext cx="300982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Holistic MSC viability framework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6998" y="695325"/>
            <a:ext cx="3505112" cy="3590924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14532D">
                  <a:alpha val="30000"/>
                </a:srgbClr>
              </a:gs>
              <a:gs pos="100000">
                <a:srgbClr val="0F172A">
                  <a:alpha val="40000"/>
                </a:srgbClr>
              </a:gs>
            </a:gsLst>
            <a:lin ang="8100000" scaled="0"/>
          </a:gradFill>
          <a:ln w="1651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48563" y="9429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4781" y="1133475"/>
            <a:ext cx="20954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ADE80"/>
                </a:solidFill>
                <a:latin typeface="Poppins"/>
              </a:rPr>
              <a:t>3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53236" y="1901715"/>
            <a:ext cx="342891" cy="25421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10424" y="1876424"/>
            <a:ext cx="209544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ADE80"/>
                </a:solidFill>
                <a:latin typeface="Poppins"/>
              </a:rPr>
              <a:t>Managerial Value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24641" y="2363736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72285" y="2352675"/>
            <a:ext cx="217164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Taguchi design experiments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24641" y="2706636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72285" y="2695575"/>
            <a:ext cx="212402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Policy effectiveness analysis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24641" y="3049536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72285" y="3038475"/>
            <a:ext cx="228594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Actionable 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4641" y="3581400"/>
            <a:ext cx="300982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Montserrat"/>
              </a:rPr>
              <a:t>Evidence-based decision support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584" y="4514850"/>
            <a:ext cx="3552736" cy="120015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1E3A8A">
                  <a:alpha val="20000"/>
                </a:srgbClr>
              </a:gs>
              <a:gs pos="100000">
                <a:srgbClr val="0F172A">
                  <a:alpha val="30000"/>
                </a:srgbClr>
              </a:gs>
            </a:gsLst>
            <a:lin ang="8100000" scaled="0"/>
          </a:gradFill>
          <a:ln w="825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9604" y="4745355"/>
            <a:ext cx="228594" cy="20573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14397" y="4714875"/>
            <a:ext cx="67625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Poppins"/>
              </a:rPr>
              <a:t>Novelty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604" y="5057775"/>
            <a:ext cx="3152696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First study combining ML, CVaR, and URSP for MSC viability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14717" y="4514850"/>
            <a:ext cx="3552736" cy="120015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713F12">
                  <a:alpha val="20000"/>
                </a:srgbClr>
              </a:gs>
              <a:gs pos="100000">
                <a:srgbClr val="0F172A">
                  <a:alpha val="30000"/>
                </a:srgbClr>
              </a:gs>
            </a:gsLst>
            <a:lin ang="8100000" scaled="0"/>
          </a:gradFill>
          <a:ln w="825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14737" y="4745355"/>
            <a:ext cx="228594" cy="20573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819529" y="4714875"/>
            <a:ext cx="101914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ACC15"/>
                </a:solidFill>
                <a:latin typeface="Poppins"/>
              </a:rPr>
              <a:t>Practicality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4737" y="5057775"/>
            <a:ext cx="3152696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Real-world case study with comprehensive managerial insights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9374" y="4514850"/>
            <a:ext cx="3552736" cy="120015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831843">
                  <a:alpha val="20000"/>
                </a:srgbClr>
              </a:gs>
              <a:gs pos="100000">
                <a:srgbClr val="0F172A">
                  <a:alpha val="30000"/>
                </a:srgbClr>
              </a:gs>
            </a:gsLst>
            <a:lin ang="8100000" scaled="0"/>
          </a:gradFill>
          <a:ln w="825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229394" y="4739640"/>
            <a:ext cx="228594" cy="21717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534186" y="4714875"/>
            <a:ext cx="6381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472B6"/>
                </a:solidFill>
                <a:latin typeface="Poppins"/>
              </a:rPr>
              <a:t>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394" y="5057775"/>
            <a:ext cx="3152696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Demonstrated improvements in cost, robustness, and resilience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9584" y="5943600"/>
            <a:ext cx="10972525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164E63">
                  <a:alpha val="20000"/>
                </a:srgbClr>
              </a:gs>
              <a:gs pos="100000">
                <a:srgbClr val="581C87">
                  <a:alpha val="20000"/>
                </a:srgbClr>
              </a:gs>
            </a:gsLst>
            <a:lin ang="10800000" scaled="0"/>
          </a:gra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247843" y="6187586"/>
            <a:ext cx="304792" cy="21687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705032" y="6143625"/>
            <a:ext cx="20001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</a:rPr>
              <a:t>Research Impact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57628" y="6162675"/>
            <a:ext cx="476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|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67173" y="6181724"/>
            <a:ext cx="20954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Published in </a:t>
            </a:r>
            <a:r>
              <a:rPr sz="956" b="1">
                <a:solidFill>
                  <a:srgbClr val="22D3EE"/>
                </a:solidFill>
                <a:latin typeface="Montserrat"/>
              </a:rPr>
              <a:t>Omega (2025)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05492" y="6162675"/>
            <a:ext cx="476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Montserrat"/>
              </a:rPr>
              <a:t>|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5037" y="6181724"/>
            <a:ext cx="242881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Montserrat"/>
              </a:rPr>
              <a:t>Advances MSC viability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961</Words>
  <Application>Microsoft Office PowerPoint</Application>
  <PresentationFormat>Widescreen</PresentationFormat>
  <Paragraphs>355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Montserrat</vt:lpstr>
      <vt:lpstr>Poppins</vt:lpstr>
      <vt:lpstr>SFMono-Regular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sawon mukherjee</cp:lastModifiedBy>
  <cp:revision>2</cp:revision>
  <dcterms:created xsi:type="dcterms:W3CDTF">2013-01-27T09:14:16Z</dcterms:created>
  <dcterms:modified xsi:type="dcterms:W3CDTF">2026-01-27T15:32:14Z</dcterms:modified>
  <cp:category/>
</cp:coreProperties>
</file>